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InsureWell — Complete System Workflow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092440" y="91440"/>
            <a:ext cx="822960" cy="384048"/>
          </a:xfrm>
          <a:prstGeom prst="roundRect">
            <a:avLst>
              <a:gd name="adj" fmla="val 14286"/>
            </a:avLst>
          </a:prstGeom>
          <a:solidFill>
            <a:srgbClr val="600018"/>
          </a:solidFill>
          <a:ln w="12700">
            <a:solidFill>
              <a:srgbClr val="6000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92440" y="914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658368"/>
            <a:ext cx="2377440" cy="219456"/>
          </a:xfrm>
          <a:prstGeom prst="roundRect">
            <a:avLst>
              <a:gd name="adj" fmla="val 1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583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5EEAD4"/>
                </a:solidFill>
              </a:rPr>
              <a:t>● POLICY JOURNEY  (Steps 1–5)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84048" y="996696"/>
            <a:ext cx="1481328" cy="932688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960120"/>
            <a:ext cx="1481328" cy="932688"/>
          </a:xfrm>
          <a:prstGeom prst="rect">
            <a:avLst/>
          </a:prstGeom>
          <a:solidFill>
            <a:srgbClr val="0D9488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960120"/>
            <a:ext cx="1481328" cy="201168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9601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CUSTOMER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591056" y="978408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" y="978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47472" y="116128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Customer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Applies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0" y="1426464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029968" y="996696"/>
            <a:ext cx="1481328" cy="932688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93392" y="960120"/>
            <a:ext cx="1481328" cy="932688"/>
          </a:xfrm>
          <a:prstGeom prst="rect">
            <a:avLst/>
          </a:prstGeom>
          <a:solidFill>
            <a:srgbClr val="1D4ED8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960120"/>
            <a:ext cx="1481328" cy="201168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3392" y="9601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ADMIN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3236976" y="978408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36976" y="978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993392" y="116128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Admin Assigns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Underwriter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0" y="1426464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75888" y="996696"/>
            <a:ext cx="1481328" cy="932688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39312" y="960120"/>
            <a:ext cx="1481328" cy="932688"/>
          </a:xfrm>
          <a:prstGeom prst="rect">
            <a:avLst/>
          </a:prstGeom>
          <a:solidFill>
            <a:srgbClr val="6D28D9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39312" y="960120"/>
            <a:ext cx="1481328" cy="201168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9601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UNDERWRITER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882896" y="978408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978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639312" y="116128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Underwriter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Sends Quote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0" y="1426464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21808" y="996696"/>
            <a:ext cx="1481328" cy="932688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85232" y="960120"/>
            <a:ext cx="1481328" cy="932688"/>
          </a:xfrm>
          <a:prstGeom prst="rect">
            <a:avLst/>
          </a:prstGeom>
          <a:solidFill>
            <a:srgbClr val="0D9488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85232" y="960120"/>
            <a:ext cx="1481328" cy="201168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9601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CUSTOMER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528816" y="978408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28816" y="978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285232" y="116128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Customer Pays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(Razorpay)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66560" y="1426464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967728" y="996696"/>
            <a:ext cx="1481328" cy="932688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31152" y="960120"/>
            <a:ext cx="1481328" cy="932688"/>
          </a:xfrm>
          <a:prstGeom prst="rect">
            <a:avLst/>
          </a:prstGeom>
          <a:solidFill>
            <a:srgbClr val="047857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31152" y="960120"/>
            <a:ext cx="1481328" cy="201168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9601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</a:rPr>
              <a:t>SYSTEM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8174736" y="978408"/>
            <a:ext cx="201168" cy="201168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74736" y="978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931152" y="1161288"/>
            <a:ext cx="1481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Policy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ACTIVE ✓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412480" y="1426464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778240" y="1426464"/>
            <a:ext cx="0" cy="85953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104" y="2286000"/>
            <a:ext cx="794613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50" name="Shape 48"/>
          <p:cNvSpPr/>
          <p:nvPr/>
        </p:nvSpPr>
        <p:spPr>
          <a:xfrm>
            <a:off x="832104" y="2286000"/>
            <a:ext cx="0" cy="4114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7772400" y="19019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continues ↩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4320" y="2377440"/>
            <a:ext cx="2423160" cy="219456"/>
          </a:xfrm>
          <a:prstGeom prst="roundRect">
            <a:avLst>
              <a:gd name="adj" fmla="val 16667"/>
            </a:avLst>
          </a:prstGeom>
          <a:solidFill>
            <a:srgbClr val="B45309">
              <a:alpha val="2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23774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FCD34D"/>
                </a:solidFill>
              </a:rPr>
              <a:t>● CLAIMS JOURNEY  (Steps 6–11)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37744" y="2734056"/>
            <a:ext cx="1261872" cy="86868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1168" y="2697480"/>
            <a:ext cx="1261872" cy="868680"/>
          </a:xfrm>
          <a:prstGeom prst="rect">
            <a:avLst/>
          </a:prstGeom>
          <a:solidFill>
            <a:srgbClr val="0D9488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01168" y="2697480"/>
            <a:ext cx="1261872" cy="18288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1168" y="26974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FFFFFF"/>
                </a:solidFill>
              </a:rPr>
              <a:t>CUSTOMER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1243584" y="2715768"/>
            <a:ext cx="182880" cy="182880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43584" y="2715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01168" y="288036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Files Claim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463040" y="313182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1618488" y="2734056"/>
            <a:ext cx="1261872" cy="86868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581912" y="2697480"/>
            <a:ext cx="1261872" cy="868680"/>
          </a:xfrm>
          <a:prstGeom prst="rect">
            <a:avLst/>
          </a:prstGeom>
          <a:solidFill>
            <a:srgbClr val="1D4ED8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581912" y="2697480"/>
            <a:ext cx="1261872" cy="18288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81912" y="26974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FFFFFF"/>
                </a:solidFill>
              </a:rPr>
              <a:t>ADMIN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624328" y="2715768"/>
            <a:ext cx="182880" cy="182880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624328" y="2715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7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1581912" y="288036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 Assigns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Claims Officer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843784" y="313182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2999232" y="2734056"/>
            <a:ext cx="1261872" cy="86868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62656" y="2697480"/>
            <a:ext cx="1261872" cy="868680"/>
          </a:xfrm>
          <a:prstGeom prst="rect">
            <a:avLst/>
          </a:prstGeom>
          <a:solidFill>
            <a:srgbClr val="B45309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62656" y="2697480"/>
            <a:ext cx="1261872" cy="18288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62656" y="26974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FFFFFF"/>
                </a:solidFill>
              </a:rPr>
              <a:t>CLAIMS OFFICER</a:t>
            </a:r>
            <a:endParaRPr lang="en-US" sz="550" dirty="0"/>
          </a:p>
        </p:txBody>
      </p:sp>
      <p:sp>
        <p:nvSpPr>
          <p:cNvPr id="74" name="Shape 72"/>
          <p:cNvSpPr/>
          <p:nvPr/>
        </p:nvSpPr>
        <p:spPr>
          <a:xfrm>
            <a:off x="4005072" y="2715768"/>
            <a:ext cx="182880" cy="182880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05072" y="2715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8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2962656" y="288036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Officer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Reviews Claim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224528" y="313182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4379976" y="2734056"/>
            <a:ext cx="1261872" cy="86868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343400" y="2697480"/>
            <a:ext cx="1261872" cy="868680"/>
          </a:xfrm>
          <a:prstGeom prst="rect">
            <a:avLst/>
          </a:prstGeom>
          <a:solidFill>
            <a:srgbClr val="B45309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343400" y="2697480"/>
            <a:ext cx="1261872" cy="18288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43400" y="26974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FFFFFF"/>
                </a:solidFill>
              </a:rPr>
              <a:t>CLAIMS OFFICER</a:t>
            </a:r>
            <a:endParaRPr lang="en-US" sz="550" dirty="0"/>
          </a:p>
        </p:txBody>
      </p:sp>
      <p:sp>
        <p:nvSpPr>
          <p:cNvPr id="82" name="Shape 80"/>
          <p:cNvSpPr/>
          <p:nvPr/>
        </p:nvSpPr>
        <p:spPr>
          <a:xfrm>
            <a:off x="5385816" y="2715768"/>
            <a:ext cx="182880" cy="182880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385816" y="2715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9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4343400" y="288036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Approved ✓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605272" y="313182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5760720" y="2734056"/>
            <a:ext cx="1261872" cy="86868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24144" y="2697480"/>
            <a:ext cx="1261872" cy="868680"/>
          </a:xfrm>
          <a:prstGeom prst="rect">
            <a:avLst/>
          </a:prstGeom>
          <a:solidFill>
            <a:srgbClr val="B45309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24144" y="2697480"/>
            <a:ext cx="1261872" cy="18288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724144" y="26974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FFFFFF"/>
                </a:solidFill>
              </a:rPr>
              <a:t>CLAIMS OFFICER</a:t>
            </a:r>
            <a:endParaRPr lang="en-US" sz="550" dirty="0"/>
          </a:p>
        </p:txBody>
      </p:sp>
      <p:sp>
        <p:nvSpPr>
          <p:cNvPr id="90" name="Shape 88"/>
          <p:cNvSpPr/>
          <p:nvPr/>
        </p:nvSpPr>
        <p:spPr>
          <a:xfrm>
            <a:off x="6766560" y="2715768"/>
            <a:ext cx="182880" cy="182880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66560" y="2715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5724144" y="288036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Officer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Settles Claim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6986016" y="3131820"/>
            <a:ext cx="11887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7141464" y="2734056"/>
            <a:ext cx="1261872" cy="86868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104888" y="2697480"/>
            <a:ext cx="1261872" cy="868680"/>
          </a:xfrm>
          <a:prstGeom prst="rect">
            <a:avLst/>
          </a:prstGeom>
          <a:solidFill>
            <a:srgbClr val="047857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104888" y="2697480"/>
            <a:ext cx="1261872" cy="18288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104888" y="26974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spc="50" kern="0" dirty="0">
                <a:solidFill>
                  <a:srgbClr val="FFFFFF"/>
                </a:solidFill>
              </a:rPr>
              <a:t>SYSTEM</a:t>
            </a:r>
            <a:endParaRPr lang="en-US" sz="550" dirty="0"/>
          </a:p>
        </p:txBody>
      </p:sp>
      <p:sp>
        <p:nvSpPr>
          <p:cNvPr id="98" name="Shape 96"/>
          <p:cNvSpPr/>
          <p:nvPr/>
        </p:nvSpPr>
        <p:spPr>
          <a:xfrm>
            <a:off x="8147304" y="2715768"/>
            <a:ext cx="182880" cy="182880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147304" y="2715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11</a:t>
            </a:r>
            <a:endParaRPr lang="en-US" sz="650" dirty="0"/>
          </a:p>
        </p:txBody>
      </p:sp>
      <p:sp>
        <p:nvSpPr>
          <p:cNvPr id="100" name="Text 98"/>
          <p:cNvSpPr/>
          <p:nvPr/>
        </p:nvSpPr>
        <p:spPr>
          <a:xfrm>
            <a:off x="7104888" y="288036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Customer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Notified 🎉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0" y="3840480"/>
            <a:ext cx="91440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0" y="3840480"/>
            <a:ext cx="54864" cy="54864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37160" y="3840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94A3B8"/>
                </a:solidFill>
              </a:rPr>
              <a:t>ROLE LEGEND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1463040" y="4041648"/>
            <a:ext cx="201168" cy="164592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719072" y="40050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Customer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2999232" y="4041648"/>
            <a:ext cx="201168" cy="164592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255264" y="40050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Admin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4535424" y="4041648"/>
            <a:ext cx="201168" cy="164592"/>
          </a:xfrm>
          <a:prstGeom prst="roundRect">
            <a:avLst>
              <a:gd name="adj" fmla="val 22222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791456" y="40050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Underwriter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071616" y="4041648"/>
            <a:ext cx="201168" cy="164592"/>
          </a:xfrm>
          <a:prstGeom prst="roundRect">
            <a:avLst>
              <a:gd name="adj" fmla="val 22222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327648" y="40050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Claims Officer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7607808" y="4041648"/>
            <a:ext cx="201168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863840" y="40050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System / Auto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InsureWell Health Insurance System  •  Spring Boot + Angular  •  Razorpay Integrated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InsureWell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Health Insurance Management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7315200" cy="0"/>
          </a:xfrm>
          <a:prstGeom prst="line">
            <a:avLst/>
          </a:prstGeom>
          <a:noFill/>
          <a:ln w="19050">
            <a:solidFill>
              <a:srgbClr val="800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514600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514600"/>
            <a:ext cx="45720" cy="2743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Spring Boot 3.4.5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2514600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514600"/>
            <a:ext cx="45720" cy="2743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Angular 17+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514600"/>
            <a:ext cx="45720" cy="2743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JWT Auth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66560" y="2514600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514600"/>
            <a:ext cx="45720" cy="2743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Razorpay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898648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98648"/>
            <a:ext cx="45720" cy="2743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Gmail SMTP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0" y="2898648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2898648"/>
            <a:ext cx="45720" cy="2743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iTextPDF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2898648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898648"/>
            <a:ext cx="45720" cy="2743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H2 Database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66560" y="2898648"/>
            <a:ext cx="1920240" cy="27432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2898648"/>
            <a:ext cx="45720" cy="274320"/>
          </a:xfrm>
          <a:prstGeom prst="rect">
            <a:avLst/>
          </a:prstGeom>
          <a:solidFill>
            <a:srgbClr val="800020"/>
          </a:solidFill>
          <a:ln w="12700">
            <a:solidFill>
              <a:srgbClr val="800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2898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SSE Notifications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3657600"/>
            <a:ext cx="1920240" cy="914400"/>
          </a:xfrm>
          <a:prstGeom prst="rect">
            <a:avLst/>
          </a:prstGeom>
          <a:solidFill>
            <a:srgbClr val="1D4ED8">
              <a:alpha val="15000"/>
            </a:srgbClr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657600"/>
            <a:ext cx="192024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Manage users, plans &amp; assignments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560320" y="3657600"/>
            <a:ext cx="1920240" cy="914400"/>
          </a:xfrm>
          <a:prstGeom prst="rect">
            <a:avLst/>
          </a:prstGeom>
          <a:solidFill>
            <a:srgbClr val="6D28D9">
              <a:alpha val="15000"/>
            </a:srgbClr>
          </a:solidFill>
          <a:ln w="6350">
            <a:solidFill>
              <a:srgbClr val="6D28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0" y="3657600"/>
            <a:ext cx="192024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Underwriter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0604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Risk assessment &amp; premium quotes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63440" y="3657600"/>
            <a:ext cx="1920240" cy="914400"/>
          </a:xfrm>
          <a:prstGeom prst="rect">
            <a:avLst/>
          </a:prstGeom>
          <a:solidFill>
            <a:srgbClr val="B45309">
              <a:alpha val="15000"/>
            </a:srgbClr>
          </a:solidFill>
          <a:ln w="6350">
            <a:solidFill>
              <a:srgbClr val="B4530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657600"/>
            <a:ext cx="1920240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Claims Officer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Review &amp; settle insurance claims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766560" y="3657600"/>
            <a:ext cx="1920240" cy="914400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365760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1228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Apply policies &amp; file claims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37160" y="4892040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334155"/>
                </a:solidFill>
              </a:rPr>
              <a:t>End-to-end workflow: Customer applies → Policy activated → Claims filed → Settled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InsureWell Workflow</dc:title>
  <dc:subject>PptxGenJS Presentation</dc:subject>
  <dc:creator>PptxGenJS</dc:creator>
  <cp:lastModifiedBy>PptxGenJS</cp:lastModifiedBy>
  <cp:revision>1</cp:revision>
  <dcterms:created xsi:type="dcterms:W3CDTF">2026-03-15T18:30:00Z</dcterms:created>
  <dcterms:modified xsi:type="dcterms:W3CDTF">2026-03-15T18:30:00Z</dcterms:modified>
</cp:coreProperties>
</file>